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Merriweather"/>
      <p:regular r:id="rId76"/>
      <p:bold r:id="rId77"/>
      <p:italic r:id="rId78"/>
      <p:boldItalic r:id="rId79"/>
    </p:embeddedFont>
    <p:embeddedFont>
      <p:font typeface="Century Gothic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CenturyGothic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CenturyGothic-regular.fntdata"/><Relationship Id="rId82" Type="http://schemas.openxmlformats.org/officeDocument/2006/relationships/font" Target="fonts/CenturyGothic-italic.fntdata"/><Relationship Id="rId81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Merriweather-bold.fntdata"/><Relationship Id="rId32" Type="http://schemas.openxmlformats.org/officeDocument/2006/relationships/slide" Target="slides/slide26.xml"/><Relationship Id="rId76" Type="http://schemas.openxmlformats.org/officeDocument/2006/relationships/font" Target="fonts/Merriweather-regular.fntdata"/><Relationship Id="rId35" Type="http://schemas.openxmlformats.org/officeDocument/2006/relationships/slide" Target="slides/slide29.xml"/><Relationship Id="rId79" Type="http://schemas.openxmlformats.org/officeDocument/2006/relationships/font" Target="fonts/Merriweather-boldItalic.fntdata"/><Relationship Id="rId34" Type="http://schemas.openxmlformats.org/officeDocument/2006/relationships/slide" Target="slides/slide28.xml"/><Relationship Id="rId78" Type="http://schemas.openxmlformats.org/officeDocument/2006/relationships/font" Target="fonts/Merriweather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ca76e87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ca76e87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ca76e876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ca76e876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ca76e8769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ca76e876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ca76e8769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ca76e8769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ca76e8769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1ca76e876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ca76e8769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1ca76e8769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dad52f408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1dad52f408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ca76e8769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1ca76e8769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ca76e8769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ca76e8769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ca76e8769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1ca76e8769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faca3c1ef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faca3c1ef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ca76e8769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ca76e8769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d529faae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1d529faae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d529faaef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d529faaef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d529faaef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d529faaef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d529faaef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d529faaef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d529faaef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d529faaef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d529faaef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d529faaef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d529faaef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d529faaef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faca3c1ef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faca3c1ef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d529faaef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d529faaef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d529faaef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1d529faaef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d529faaef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d529faaef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d529faaef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d529faaef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d529faaef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1d529faaef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d529faaef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d529faaef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d529faaef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d529faaef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ca76e8769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ca76e8769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d529faaef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d529faaef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fa500734b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1fa500734b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fa500734b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fa500734b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soon as the seeker finds a valid target, it places it on the position being held by the placeholder. Then, the placeholder moves on to the next valid position, and the seeker continues its search.</a:t>
            </a:r>
            <a:endParaRPr sz="8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fa500734bf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fa500734bf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fa500734b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fa500734b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fa500734bf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fa500734b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fa500734b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fa500734b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fa500734bf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fa500734bf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fa500734bf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fa500734bf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fa500734bf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fa500734b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fa500734bf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fa500734bf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fa500734bf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fa500734bf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fa500734bf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fa500734bf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fa500734bf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fa500734bf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fa500734bf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fa500734bf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fa500734bf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fa500734bf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faca3c1ef6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1faca3c1ef6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fa500734bf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1fa500734bf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d529faaef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1d529faaef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d529faaef4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d529faaef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d529faaef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1d529faaef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d529faaef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d529faaef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prunıng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d529faaef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d529faaef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d529faaef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d529faaef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d529faaef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d529faaef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fa500734bf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1fa500734bf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fa500734bf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fa500734bf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fac0c493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fac0c493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1fa500734bf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1fa500734bf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fa500734bf_1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fa500734bf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fa500734bf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fa500734bf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fa500734bf_1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1fa500734bf_1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fa500734bf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fa500734bf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1f6854a4740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1f6854a4740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f6854a4740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f6854a4740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faca3c1e3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1faca3c1e3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faca3c1e36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1faca3c1e36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faca3c1e36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1faca3c1e36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d529faaef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1d529faaef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faca3c1ef6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1faca3c1ef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ca76e8769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ca76e8769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practice.geeksforgeeks.org/problems/check-if-an-array-is-sorted0701/1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odeforces.com/edu/course/2/lesson/9/1/practice/contest/307092/problem/A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eetcode.com/problems/two-sum-ii-input-array-is-sorted/description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leetcode.com/problems/move-zeroes/description/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hyperlink" Target="https://codeforces.com/edu/course/2/lesson/9/1/practice/contest/307092/problem/B" TargetMode="Externa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12.gif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leetcode.com/problems/divide-players-into-teams-of-equal-skill/" TargetMode="External"/><Relationship Id="rId4" Type="http://schemas.openxmlformats.org/officeDocument/2006/relationships/hyperlink" Target="https://leetcode.com/problems/boats-to-save-people/" TargetMode="External"/><Relationship Id="rId11" Type="http://schemas.openxmlformats.org/officeDocument/2006/relationships/hyperlink" Target="https://codeforces.com/contest/1343/problem/C" TargetMode="External"/><Relationship Id="rId10" Type="http://schemas.openxmlformats.org/officeDocument/2006/relationships/hyperlink" Target="https://leetcode.com/problems/rotate-array/" TargetMode="External"/><Relationship Id="rId9" Type="http://schemas.openxmlformats.org/officeDocument/2006/relationships/hyperlink" Target="https://leetcode.com/problems/remove-duplicates-from-sorted-array/" TargetMode="External"/><Relationship Id="rId5" Type="http://schemas.openxmlformats.org/officeDocument/2006/relationships/hyperlink" Target="https://leetcode.com/problems/container-with-most-water/" TargetMode="External"/><Relationship Id="rId6" Type="http://schemas.openxmlformats.org/officeDocument/2006/relationships/hyperlink" Target="https://leetcode.com/problems/sum-of-square-numbers/" TargetMode="External"/><Relationship Id="rId7" Type="http://schemas.openxmlformats.org/officeDocument/2006/relationships/hyperlink" Target="https://leetcode.com/problems/partition-labels/" TargetMode="External"/><Relationship Id="rId8" Type="http://schemas.openxmlformats.org/officeDocument/2006/relationships/hyperlink" Target="https://leetcode.com/problems/merge-sorted-array/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codeforces.com/edu/course/2/lesson/9" TargetMode="External"/><Relationship Id="rId4" Type="http://schemas.openxmlformats.org/officeDocument/2006/relationships/hyperlink" Target="https://www.geeksforgeeks.org/two-pointers-technique/" TargetMode="External"/><Relationship Id="rId5" Type="http://schemas.openxmlformats.org/officeDocument/2006/relationships/hyperlink" Target="https://algodaily.com/lessons/using-the-two-pointer-technique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186675" y="1328850"/>
            <a:ext cx="4770600" cy="760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30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Pointers</a:t>
            </a:r>
            <a:endParaRPr sz="30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526" y="2206875"/>
            <a:ext cx="6130949" cy="16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ctrTitle"/>
          </p:nvPr>
        </p:nvSpPr>
        <p:spPr>
          <a:xfrm>
            <a:off x="1255800" y="243150"/>
            <a:ext cx="6632400" cy="64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 Flow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26"/>
          <p:cNvSpPr txBox="1"/>
          <p:nvPr>
            <p:ph type="ctrTitle"/>
          </p:nvPr>
        </p:nvSpPr>
        <p:spPr>
          <a:xfrm>
            <a:off x="972750" y="1151100"/>
            <a:ext cx="7198500" cy="370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Pre-requisites 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Definitions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Variants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Things to Pay Attention (common pitfalls)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Practice Questions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Resources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Century Gothic"/>
              <a:buAutoNum type="arabicParenR"/>
            </a:pPr>
            <a:r>
              <a:rPr lang="en" sz="1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Quote of the Day</a:t>
            </a:r>
            <a:endParaRPr sz="16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914400" rtl="0" algn="l">
              <a:spcBef>
                <a:spcPts val="1200"/>
              </a:spcBef>
              <a:spcAft>
                <a:spcPts val="0"/>
              </a:spcAft>
              <a:buSzPts val="1600"/>
              <a:buFont typeface="Century Gothic"/>
              <a:buChar char="●"/>
            </a:pPr>
            <a:r>
              <a:rPr lang="en" sz="1600">
                <a:latin typeface="Century Gothic"/>
                <a:ea typeface="Century Gothic"/>
                <a:cs typeface="Century Gothic"/>
                <a:sym typeface="Century Gothic"/>
              </a:rPr>
              <a:t>Basic flow control (for, while loops)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SzPts val="1600"/>
              <a:buFont typeface="Century Gothic"/>
              <a:buChar char="●"/>
            </a:pPr>
            <a:r>
              <a:rPr lang="en" sz="1600">
                <a:latin typeface="Century Gothic"/>
                <a:ea typeface="Century Gothic"/>
                <a:cs typeface="Century Gothic"/>
                <a:sym typeface="Century Gothic"/>
              </a:rPr>
              <a:t>Linear data structures</a:t>
            </a:r>
            <a:endParaRPr sz="1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2" name="Google Shape;112;p27"/>
          <p:cNvSpPr txBox="1"/>
          <p:nvPr>
            <p:ph idx="4294967295" type="ctrTitle"/>
          </p:nvPr>
        </p:nvSpPr>
        <p:spPr>
          <a:xfrm>
            <a:off x="1255800" y="243150"/>
            <a:ext cx="6632400" cy="64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Pre-requisites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13" name="Google Shape;1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7700" y="1997375"/>
            <a:ext cx="2648100" cy="2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8"/>
          <p:cNvSpPr txBox="1"/>
          <p:nvPr>
            <p:ph type="ctrTitle"/>
          </p:nvPr>
        </p:nvSpPr>
        <p:spPr>
          <a:xfrm>
            <a:off x="311700" y="2041200"/>
            <a:ext cx="8520600" cy="7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30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/>
        </p:nvSpPr>
        <p:spPr>
          <a:xfrm>
            <a:off x="846350" y="317650"/>
            <a:ext cx="7355100" cy="14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b="1" lang="en" sz="20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 Pointers technique</a:t>
            </a:r>
            <a:r>
              <a:rPr b="1" lang="en" sz="1900">
                <a:solidFill>
                  <a:srgbClr val="FF99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</a:t>
            </a:r>
            <a:r>
              <a:rPr lang="en" sz="1800">
                <a:solidFill>
                  <a:srgbClr val="212529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the use of two different pointers (usually to keep track of array or string indices) to solve a problem involving said indices with the benefit of saving time and space.</a:t>
            </a:r>
            <a:endParaRPr sz="800"/>
          </a:p>
        </p:txBody>
      </p:sp>
      <p:pic>
        <p:nvPicPr>
          <p:cNvPr id="124" name="Google Shape;1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988" y="2141849"/>
            <a:ext cx="6413824" cy="18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Variants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0" name="Google Shape;130;p3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1"/>
          <p:cNvSpPr txBox="1"/>
          <p:nvPr>
            <p:ph type="ctrTitle"/>
          </p:nvPr>
        </p:nvSpPr>
        <p:spPr>
          <a:xfrm>
            <a:off x="1255800" y="319350"/>
            <a:ext cx="6632400" cy="64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6" name="Google Shape;136;p31"/>
          <p:cNvSpPr txBox="1"/>
          <p:nvPr>
            <p:ph type="ctrTitle"/>
          </p:nvPr>
        </p:nvSpPr>
        <p:spPr>
          <a:xfrm>
            <a:off x="784050" y="1020950"/>
            <a:ext cx="7575900" cy="3353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I: Parallel Pointers</a:t>
            </a:r>
            <a:endParaRPr sz="19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II: Pointers on Separate Arrays</a:t>
            </a:r>
            <a:endParaRPr sz="19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III: Colliding Pointers</a:t>
            </a:r>
            <a:endParaRPr sz="19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IV: Seeker and Placeholder</a:t>
            </a:r>
            <a:endParaRPr sz="19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19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V: For-While Combo</a:t>
            </a:r>
            <a:endParaRPr sz="19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I: Parallel </a:t>
            </a: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Pointers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2" name="Google Shape;142;p3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Pattern</a:t>
            </a:r>
            <a:r>
              <a:rPr lang="en"/>
              <a:t>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1368050"/>
            <a:ext cx="8520600" cy="32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Given an array of integers, determine if it is sorted non-decreasing order.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array of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integers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10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True or false, whether or not the array is sorted.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idx="1" type="body"/>
          </p:nvPr>
        </p:nvSpPr>
        <p:spPr>
          <a:xfrm>
            <a:off x="601500" y="1279200"/>
            <a:ext cx="7941000" cy="32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 this problem, we only need to look at two consecutive values.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because for three consecutive numbers a, b, and c, if a &lt;= b and b &lt;= c, then a &lt;= c.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two pointers will iterate parallel to each other, until the right-most one reaches the end of the array.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Approach Pattern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/>
          <p:nvPr>
            <p:ph type="ctrTitle"/>
          </p:nvPr>
        </p:nvSpPr>
        <p:spPr>
          <a:xfrm>
            <a:off x="311700" y="1974888"/>
            <a:ext cx="8520600" cy="6411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Century Gothic"/>
                <a:ea typeface="Century Gothic"/>
                <a:cs typeface="Century Gothic"/>
                <a:sym typeface="Century Gothic"/>
              </a:rPr>
              <a:t>Practice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35"/>
          <p:cNvSpPr txBox="1"/>
          <p:nvPr>
            <p:ph idx="1" type="subTitle"/>
          </p:nvPr>
        </p:nvSpPr>
        <p:spPr>
          <a:xfrm>
            <a:off x="3300450" y="2682313"/>
            <a:ext cx="2543100" cy="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Problem Link</a:t>
            </a:r>
            <a:endParaRPr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</a:t>
            </a:r>
            <a:r>
              <a:rPr lang="en"/>
              <a:t> </a:t>
            </a:r>
            <a:endParaRPr/>
          </a:p>
        </p:txBody>
      </p:sp>
      <p:sp>
        <p:nvSpPr>
          <p:cNvPr id="166" name="Google Shape;166;p36"/>
          <p:cNvSpPr txBox="1"/>
          <p:nvPr>
            <p:ph idx="1" type="body"/>
          </p:nvPr>
        </p:nvSpPr>
        <p:spPr>
          <a:xfrm>
            <a:off x="2639850" y="1322475"/>
            <a:ext cx="3864300" cy="352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isSorted(</a:t>
            </a:r>
            <a:r>
              <a:rPr b="1" lang="en" sz="13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left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right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size =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len(nums)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right &lt; size: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[left] &gt;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[right]: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endParaRPr b="1" sz="13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left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right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b="1" sz="13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7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II: Pointers on Separate Arrays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2" name="Google Shape;172;p3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Pattern</a:t>
            </a:r>
            <a:r>
              <a:rPr lang="en"/>
              <a:t>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38"/>
          <p:cNvSpPr txBox="1"/>
          <p:nvPr>
            <p:ph idx="1" type="body"/>
          </p:nvPr>
        </p:nvSpPr>
        <p:spPr>
          <a:xfrm>
            <a:off x="645900" y="1152475"/>
            <a:ext cx="785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given two arrays, sorted in non-decreasing order. Merge them into one sorted array.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275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sorted arrays of integers.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11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merged array.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Approach Pattern</a:t>
            </a:r>
            <a:endParaRPr sz="25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this task? We are given two arrays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sorted in ascending order. We want to combine the elements of these arrays into one big array 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c,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also sorted in ascending order.</a:t>
            </a:r>
            <a:endParaRPr b="1"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5" name="Google Shape;1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375" y="2022138"/>
            <a:ext cx="2381250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idx="1" type="body"/>
          </p:nvPr>
        </p:nvSpPr>
        <p:spPr>
          <a:xfrm>
            <a:off x="579300" y="1152475"/>
            <a:ext cx="798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easiest way to do this is with the following algorithm: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AutoNum type="arabicPeriod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Collect all the elements into one big array;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AutoNum type="arabicPeriod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 it with any sorting method built into your language.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Such an algorithm will take time  O((m+n) ⋅ log(m+n))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Efficient Approach:</a:t>
            </a:r>
            <a:r>
              <a:rPr lang="en" sz="222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Pointer on Separate Arrays</a:t>
            </a:r>
            <a:endParaRPr sz="222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6" name="Google Shape;1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50" y="1765075"/>
            <a:ext cx="7182550" cy="29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1"/>
          <p:cNvSpPr txBox="1"/>
          <p:nvPr/>
        </p:nvSpPr>
        <p:spPr>
          <a:xfrm>
            <a:off x="703550" y="1064825"/>
            <a:ext cx="777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92929"/>
                </a:solidFill>
                <a:highlight>
                  <a:schemeClr val="lt1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Two arrays or Lists, each has been assigned a pointer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do we merge them into one sorted array?</a:t>
            </a:r>
            <a:endParaRPr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answer this question, let's understand which element will be in the first position in this array. Of course, this is the smallest element among all in 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</a:t>
            </a:r>
            <a:r>
              <a:rPr lang="en" sz="15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b.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The smallest element of a is at the beginning of the array, same as with b.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3" name="Google Shape;2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63" y="1017725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076"/>
              <a:buFont typeface="Arial"/>
              <a:buNone/>
            </a:pPr>
            <a:r>
              <a:rPr lang="en" sz="2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 b="1"/>
          </a:p>
        </p:txBody>
      </p:sp>
      <p:pic>
        <p:nvPicPr>
          <p:cNvPr id="210" name="Google Shape;21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150" y="1117575"/>
            <a:ext cx="4815699" cy="394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"/>
          <p:cNvSpPr txBox="1"/>
          <p:nvPr>
            <p:ph type="ctrTitle"/>
          </p:nvPr>
        </p:nvSpPr>
        <p:spPr>
          <a:xfrm>
            <a:off x="311700" y="744575"/>
            <a:ext cx="8520600" cy="1760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Century Gothic"/>
                <a:ea typeface="Century Gothic"/>
                <a:cs typeface="Century Gothic"/>
                <a:sym typeface="Century Gothic"/>
              </a:rPr>
              <a:t>Practice</a:t>
            </a:r>
            <a:endParaRPr sz="4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Problem Link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"/>
          <p:cNvSpPr txBox="1"/>
          <p:nvPr>
            <p:ph type="title"/>
          </p:nvPr>
        </p:nvSpPr>
        <p:spPr>
          <a:xfrm>
            <a:off x="311700" y="276250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45"/>
          <p:cNvSpPr txBox="1"/>
          <p:nvPr/>
        </p:nvSpPr>
        <p:spPr>
          <a:xfrm>
            <a:off x="2177700" y="932750"/>
            <a:ext cx="4788600" cy="3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mergeLists(</a:t>
            </a:r>
            <a:r>
              <a:rPr b="1" lang="en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list1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list2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merged = []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first, second =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1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first &lt; len(list1)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second &lt; len(list2):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list1[first] &lt; list2[second]: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merged.append(list1[first])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first +=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1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merged.append(list2[second])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second +=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1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merged.extend(list1[first:])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merged.extend(list2[second:])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merged</a:t>
            </a:r>
            <a:endParaRPr b="1" sz="11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III: Colliding Pointers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28" name="Google Shape;228;p4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Pattern</a:t>
            </a:r>
            <a:r>
              <a:rPr lang="en"/>
              <a:t>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47"/>
          <p:cNvSpPr txBox="1"/>
          <p:nvPr>
            <p:ph idx="1" type="body"/>
          </p:nvPr>
        </p:nvSpPr>
        <p:spPr>
          <a:xfrm>
            <a:off x="699150" y="1152475"/>
            <a:ext cx="774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Given an array of integers that is sorted in non-decreasing order, find two numbers such that they add up to a specific target number (it is guaranteed that at least one pair exists).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t/>
            </a:r>
            <a:endParaRPr sz="1500">
              <a:solidFill>
                <a:srgbClr val="22222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275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sorted array of integers and a target number.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110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numbers from the array that sum up to the target number.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Brute Force Approach</a:t>
            </a:r>
            <a:endParaRPr/>
          </a:p>
        </p:txBody>
      </p:sp>
      <p:sp>
        <p:nvSpPr>
          <p:cNvPr id="240" name="Google Shape;24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We could implement a nested loop finding all possible pairs of elements and adding them.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333333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in range(n-1):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8288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j in range(i+1):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286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arr[i] + arr[j] == target: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[arr[i], arr[j]]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743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 []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entury Gothic"/>
              <a:buChar char="●"/>
            </a:pPr>
            <a:r>
              <a:rPr i="1" lang="en" sz="1500">
                <a:solidFill>
                  <a:srgbClr val="333333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Time complexity: O(n²)</a:t>
            </a:r>
            <a:endParaRPr b="1" sz="1500">
              <a:solidFill>
                <a:srgbClr val="33333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9"/>
          <p:cNvSpPr txBox="1"/>
          <p:nvPr/>
        </p:nvSpPr>
        <p:spPr>
          <a:xfrm>
            <a:off x="846350" y="894275"/>
            <a:ext cx="735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1152475"/>
            <a:ext cx="8520600" cy="7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Century Gothic"/>
              <a:buChar char="●"/>
            </a:pP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One pointer starts from beginning and other from the end and they proceed towards each other.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7" name="Google Shape;24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175" y="2379525"/>
            <a:ext cx="667702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Efficient</a:t>
            </a:r>
            <a:r>
              <a:rPr lang="en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Approach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 sz="2500"/>
          </a:p>
        </p:txBody>
      </p:sp>
      <p:sp>
        <p:nvSpPr>
          <p:cNvPr id="254" name="Google Shape;254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Since the array is sorted, we can make some general observations: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13716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Smaller sums would come from the left half of the array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Larger sums would come from the right half of the array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Therefore, using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two pointers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starting at the end points of the array, we can choose to increase or decrease our current sum however we like.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	The basic idea is that: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13716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If our current sum is too small, move closer to the right.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If our current sum is too large, move closer to the left.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 sz="2500"/>
          </a:p>
        </p:txBody>
      </p:sp>
      <p:pic>
        <p:nvPicPr>
          <p:cNvPr id="260" name="Google Shape;26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475" y="1049250"/>
            <a:ext cx="313304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2"/>
          <p:cNvSpPr txBox="1"/>
          <p:nvPr>
            <p:ph type="ctrTitle"/>
          </p:nvPr>
        </p:nvSpPr>
        <p:spPr>
          <a:xfrm>
            <a:off x="311700" y="744575"/>
            <a:ext cx="8520600" cy="1760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900">
                <a:latin typeface="Century Gothic"/>
                <a:ea typeface="Century Gothic"/>
                <a:cs typeface="Century Gothic"/>
                <a:sym typeface="Century Gothic"/>
              </a:rPr>
              <a:t>Practice</a:t>
            </a:r>
            <a:endParaRPr sz="4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Problem Link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Implementation</a:t>
            </a:r>
            <a:endParaRPr b="1" sz="2020"/>
          </a:p>
        </p:txBody>
      </p:sp>
      <p:sp>
        <p:nvSpPr>
          <p:cNvPr id="272" name="Google Shape;272;p53"/>
          <p:cNvSpPr txBox="1"/>
          <p:nvPr>
            <p:ph idx="1" type="body"/>
          </p:nvPr>
        </p:nvSpPr>
        <p:spPr>
          <a:xfrm>
            <a:off x="2150250" y="1184025"/>
            <a:ext cx="4843500" cy="3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twoSum(</a:t>
            </a:r>
            <a:r>
              <a:rPr b="1" lang="en" sz="13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3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target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left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right = len(nums) -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ur_sum = 0</a:t>
            </a:r>
            <a:endParaRPr b="1" sz="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nums[left] + nums[right] != target: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cur_sum = nums[left] + nums[right]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cur_sum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target: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left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right -=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[nums[left], nums[right]]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4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IV: Seeker and Placeholder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78" name="Google Shape;278;p5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1">
                <a:latin typeface="Century Gothic"/>
                <a:ea typeface="Century Gothic"/>
                <a:cs typeface="Century Gothic"/>
                <a:sym typeface="Century Gothic"/>
              </a:rPr>
              <a:t>Approach Pattern</a:t>
            </a:r>
            <a:endParaRPr sz="291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55"/>
          <p:cNvSpPr txBox="1"/>
          <p:nvPr>
            <p:ph idx="1" type="body"/>
          </p:nvPr>
        </p:nvSpPr>
        <p:spPr>
          <a:xfrm>
            <a:off x="311700" y="1545725"/>
            <a:ext cx="85206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approach is used when we are trying to group elements based on some criteria and the array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 to be modified in place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600"/>
              </a:spcBef>
              <a:spcAft>
                <a:spcPts val="110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pointer is used to seek valid elements for the group, and the other is used to keep track of the next valid position for an element.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given an array, group all non-zero elements to the beginning of the array while maintaining their </a:t>
            </a: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relative order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The modification must be done </a:t>
            </a: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in-place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array of integers.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600"/>
              </a:spcBef>
              <a:spcAft>
                <a:spcPts val="110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array, modified in-place, such that all non-zero numbers are at the beginning of the array.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1">
                <a:latin typeface="Century Gothic"/>
                <a:ea typeface="Century Gothic"/>
                <a:cs typeface="Century Gothic"/>
                <a:sym typeface="Century Gothic"/>
              </a:rPr>
              <a:t>Problem</a:t>
            </a:r>
            <a:endParaRPr sz="291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/>
          </a:p>
        </p:txBody>
      </p:sp>
      <p:sp>
        <p:nvSpPr>
          <p:cNvPr id="296" name="Google Shape;296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Any approaches to solve this problem?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7" name="Google Shape;29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963" y="166407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58"/>
          <p:cNvSpPr txBox="1"/>
          <p:nvPr>
            <p:ph idx="1" type="body"/>
          </p:nvPr>
        </p:nvSpPr>
        <p:spPr>
          <a:xfrm>
            <a:off x="311700" y="1152475"/>
            <a:ext cx="8520600" cy="29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pointer will iterate over the array, finding non-zero elements. The other pointer will point to the next valid position for a non-zero element.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9" name="Google Shape;309;p59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[0,4,0,1,3]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60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 u="sng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,4,0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6" name="Google Shape;316;p60"/>
          <p:cNvSpPr txBox="1"/>
          <p:nvPr/>
        </p:nvSpPr>
        <p:spPr>
          <a:xfrm>
            <a:off x="8394825" y="4568775"/>
            <a:ext cx="69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Holder</a:t>
            </a:r>
            <a:endParaRPr sz="110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Seeker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2" name="Google Shape;322;p61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62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63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64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65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66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8" name="Google Shape;358;p67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,0,</a:t>
            </a:r>
            <a:r>
              <a:rPr b="1" lang="en" sz="5000" u="sng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68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1" lang="en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,0]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9"/>
          <p:cNvSpPr txBox="1"/>
          <p:nvPr>
            <p:ph type="ctrTitle"/>
          </p:nvPr>
        </p:nvSpPr>
        <p:spPr>
          <a:xfrm>
            <a:off x="311700" y="744575"/>
            <a:ext cx="8520600" cy="1760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Century Gothic"/>
                <a:ea typeface="Century Gothic"/>
                <a:cs typeface="Century Gothic"/>
                <a:sym typeface="Century Gothic"/>
              </a:rPr>
              <a:t>Practice</a:t>
            </a:r>
            <a:endParaRPr sz="4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6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Problem Link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0"/>
          <p:cNvSpPr txBox="1"/>
          <p:nvPr>
            <p:ph idx="1" type="body"/>
          </p:nvPr>
        </p:nvSpPr>
        <p:spPr>
          <a:xfrm>
            <a:off x="1005300" y="1152475"/>
            <a:ext cx="71334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moveNonZeroes(</a:t>
            </a:r>
            <a:r>
              <a:rPr b="1" lang="en" sz="1300">
                <a:solidFill>
                  <a:srgbClr val="808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holder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seeker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seeker &lt; len(nums):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if nums[seeker] !=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			nums[seeker], nums[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holder] = nums[holder], nums[seeker]</a:t>
            </a:r>
            <a:endParaRPr b="1" sz="13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			holder += </a:t>
            </a:r>
            <a:r>
              <a:rPr b="1" lang="en" sz="13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		seeker += </a:t>
            </a:r>
            <a:r>
              <a:rPr b="1" lang="en" sz="13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" name="Google Shape;376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Implementation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1"/>
          <p:cNvSpPr txBox="1"/>
          <p:nvPr>
            <p:ph type="ctrTitle"/>
          </p:nvPr>
        </p:nvSpPr>
        <p:spPr>
          <a:xfrm>
            <a:off x="1255800" y="1522967"/>
            <a:ext cx="6632400" cy="10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Variant V: For-While Combo</a:t>
            </a:r>
            <a:endParaRPr sz="28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82" name="Google Shape;382;p7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2890415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1">
                <a:latin typeface="Century Gothic"/>
                <a:ea typeface="Century Gothic"/>
                <a:cs typeface="Century Gothic"/>
                <a:sym typeface="Century Gothic"/>
              </a:rPr>
              <a:t>Approach Pattern</a:t>
            </a:r>
            <a:endParaRPr sz="291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72"/>
          <p:cNvSpPr txBox="1"/>
          <p:nvPr>
            <p:ph idx="1" type="body"/>
          </p:nvPr>
        </p:nvSpPr>
        <p:spPr>
          <a:xfrm>
            <a:off x="311700" y="1545725"/>
            <a:ext cx="85206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for-while combination is used when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pointer moves one step at a time, but the other one moves multiple steps at a time.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10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usually applied to problems in which the position of one pointer is directly dependent on the position of the other.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11">
                <a:latin typeface="Century Gothic"/>
                <a:ea typeface="Century Gothic"/>
                <a:cs typeface="Century Gothic"/>
                <a:sym typeface="Century Gothic"/>
              </a:rPr>
              <a:t>Problem</a:t>
            </a:r>
            <a:endParaRPr sz="2911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 are given two arrays, sorted in non-decreasing order. For each element of the second array, find the number of elements in the first array are that strictly less than it.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sorted arrays.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Output</a:t>
            </a:r>
            <a:endParaRPr b="1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600"/>
              </a:spcBef>
              <a:spcAft>
                <a:spcPts val="1100"/>
              </a:spcAft>
              <a:buNone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single sorted array containing all elements from both arrays.</a:t>
            </a:r>
            <a:endParaRPr sz="15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/>
          </a:p>
        </p:txBody>
      </p:sp>
      <p:sp>
        <p:nvSpPr>
          <p:cNvPr id="400" name="Google Shape;400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3200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00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Any approaches to solve this problem?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01" name="Google Shape;40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963" y="1664075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75"/>
          <p:cNvSpPr txBox="1"/>
          <p:nvPr>
            <p:ph idx="1" type="body"/>
          </p:nvPr>
        </p:nvSpPr>
        <p:spPr>
          <a:xfrm>
            <a:off x="311700" y="1152475"/>
            <a:ext cx="8520600" cy="29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would a brute force approach look like?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every element in the second array, iterate over the first array and count the ones that are smaller than it.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very inefficient - O(n</a:t>
            </a:r>
            <a:r>
              <a:rPr baseline="30000"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baseline="30000"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Approach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3" name="Google Shape;413;p76"/>
          <p:cNvSpPr txBox="1"/>
          <p:nvPr>
            <p:ph idx="1" type="body"/>
          </p:nvPr>
        </p:nvSpPr>
        <p:spPr>
          <a:xfrm>
            <a:off x="311700" y="1152475"/>
            <a:ext cx="8520600" cy="29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Remember that both arrays are sorted.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means that if there are n elements that are less than a specific target, then there is at least n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guaranteed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elements for the next 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too.</a:t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2222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Century Gothic"/>
              <a:buChar char="●"/>
            </a:pP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are going to move pointer </a:t>
            </a:r>
            <a:r>
              <a:rPr b="1" lang="en" sz="16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over array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move</a:t>
            </a:r>
            <a:r>
              <a:rPr b="1" lang="en" sz="16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over array</a:t>
            </a:r>
            <a:r>
              <a:rPr b="1" lang="en" sz="16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until we find an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b="1" baseline="-25000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from array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that is greater than or equal to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b="1" baseline="-25000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At this point, the value of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will represent the number of elements in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500">
                <a:solidFill>
                  <a:srgbClr val="22222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that are less than 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</a:t>
            </a:r>
            <a:r>
              <a:rPr b="1" baseline="-25000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</a:t>
            </a:r>
            <a:r>
              <a:rPr b="1" lang="en" sz="1700">
                <a:solidFill>
                  <a:srgbClr val="98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1">
              <a:solidFill>
                <a:srgbClr val="98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78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,2,5,6]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,4,6,8]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79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</a:t>
            </a:r>
            <a:r>
              <a:rPr b="1" lang="en" sz="5000" u="sng">
                <a:solidFill>
                  <a:srgbClr val="98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,5,6]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,4,6,8]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7" name="Google Shape;437;p80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,4,6,8]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p81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[3,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,6,8]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[2,2]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9" name="Google Shape;449;p82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[3,4,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[2,2]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83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[2,2,5,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[3,4,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,8]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[2,2,3]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84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[2,2,5,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[3,4,6,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[2,2,3]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Simulation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7" name="Google Shape;467;p85"/>
          <p:cNvSpPr txBox="1"/>
          <p:nvPr>
            <p:ph idx="1" type="body"/>
          </p:nvPr>
        </p:nvSpPr>
        <p:spPr>
          <a:xfrm>
            <a:off x="311700" y="977175"/>
            <a:ext cx="8520600" cy="359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a = [2,2,5,6]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b = [3,4,6,</a:t>
            </a:r>
            <a:r>
              <a:rPr b="1" lang="en" sz="5000" u="sng">
                <a:solidFill>
                  <a:srgbClr val="98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42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5000">
                <a:solidFill>
                  <a:srgbClr val="222222"/>
                </a:solidFill>
                <a:latin typeface="Courier New"/>
                <a:ea typeface="Courier New"/>
                <a:cs typeface="Courier New"/>
                <a:sym typeface="Courier New"/>
              </a:rPr>
              <a:t>C = [2,2,3,4]</a:t>
            </a:r>
            <a:endParaRPr b="1" sz="5000">
              <a:solidFill>
                <a:srgbClr val="22222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86"/>
          <p:cNvSpPr txBox="1"/>
          <p:nvPr>
            <p:ph type="ctrTitle"/>
          </p:nvPr>
        </p:nvSpPr>
        <p:spPr>
          <a:xfrm>
            <a:off x="311700" y="744575"/>
            <a:ext cx="8520600" cy="1760700"/>
          </a:xfrm>
          <a:prstGeom prst="rect">
            <a:avLst/>
          </a:prstGeom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Century Gothic"/>
                <a:ea typeface="Century Gothic"/>
                <a:cs typeface="Century Gothic"/>
                <a:sym typeface="Century Gothic"/>
              </a:rPr>
              <a:t>Practice</a:t>
            </a:r>
            <a:endParaRPr sz="49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8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Problem Link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7"/>
          <p:cNvSpPr txBox="1"/>
          <p:nvPr>
            <p:ph idx="1" type="body"/>
          </p:nvPr>
        </p:nvSpPr>
        <p:spPr>
          <a:xfrm>
            <a:off x="1261450" y="1152475"/>
            <a:ext cx="7133400" cy="34164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countSmaller(nums1, nums2):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smaller_counts = []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first 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sz="7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second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range(len(nums2)):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first &lt; len(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1)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nums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1[first] &lt; </a:t>
            </a:r>
            <a:r>
              <a:rPr b="1" lang="en" sz="13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nums2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[second]: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first += </a:t>
            </a:r>
            <a:r>
              <a:rPr b="1" lang="en" sz="13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30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smaller_counts.append(first)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smaller_counts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8F8F8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Implementation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8"/>
          <p:cNvSpPr txBox="1"/>
          <p:nvPr>
            <p:ph type="ctrTitle"/>
          </p:nvPr>
        </p:nvSpPr>
        <p:spPr>
          <a:xfrm>
            <a:off x="1255800" y="2728904"/>
            <a:ext cx="6632400" cy="628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 Pitfalls</a:t>
            </a:r>
            <a:endParaRPr sz="28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85" name="Google Shape;485;p8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173557" y="3445471"/>
            <a:ext cx="796809" cy="319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  <p:pic>
        <p:nvPicPr>
          <p:cNvPr id="486" name="Google Shape;486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1477" y="1378306"/>
            <a:ext cx="1421050" cy="142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89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73850" y="4865700"/>
            <a:ext cx="505301" cy="20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  <p:sp>
        <p:nvSpPr>
          <p:cNvPr id="492" name="Google Shape;492;p89"/>
          <p:cNvSpPr txBox="1"/>
          <p:nvPr>
            <p:ph type="ctrTitle"/>
          </p:nvPr>
        </p:nvSpPr>
        <p:spPr>
          <a:xfrm>
            <a:off x="2124150" y="92675"/>
            <a:ext cx="5046000" cy="594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entury Gothic"/>
              <a:buAutoNum type="arabicPeriod"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Index out of Bounds</a:t>
            </a:r>
            <a:endParaRPr sz="28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3" name="Google Shape;493;p89"/>
          <p:cNvSpPr txBox="1"/>
          <p:nvPr/>
        </p:nvSpPr>
        <p:spPr>
          <a:xfrm>
            <a:off x="558775" y="885950"/>
            <a:ext cx="82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Trying to access elements using indices that are </a:t>
            </a:r>
            <a:r>
              <a:rPr b="1" lang="en" sz="1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greater (or equal to)</a:t>
            </a:r>
            <a:r>
              <a:rPr lang="en" sz="1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than the size of our array will result in this exception.</a:t>
            </a:r>
            <a:endParaRPr sz="15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94" name="Google Shape;49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688" y="1823150"/>
            <a:ext cx="7122616" cy="301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9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73850" y="4865700"/>
            <a:ext cx="505301" cy="202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  <p:sp>
        <p:nvSpPr>
          <p:cNvPr id="500" name="Google Shape;500;p90"/>
          <p:cNvSpPr txBox="1"/>
          <p:nvPr>
            <p:ph type="ctrTitle"/>
          </p:nvPr>
        </p:nvSpPr>
        <p:spPr>
          <a:xfrm>
            <a:off x="2124150" y="92675"/>
            <a:ext cx="5046000" cy="111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</a:t>
            </a:r>
            <a:r>
              <a:rPr lang="en" sz="28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 out for pointer Condition</a:t>
            </a:r>
            <a:endParaRPr sz="28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1" name="Google Shape;501;p90"/>
          <p:cNvSpPr txBox="1"/>
          <p:nvPr/>
        </p:nvSpPr>
        <p:spPr>
          <a:xfrm>
            <a:off x="542400" y="1463400"/>
            <a:ext cx="820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common mistake we make while doing two pointer problems is not paying attention to our guard </a:t>
            </a:r>
            <a:r>
              <a:rPr lang="en" sz="1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condition.</a:t>
            </a:r>
            <a:endParaRPr sz="1500">
              <a:solidFill>
                <a:srgbClr val="43434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2" name="Google Shape;502;p90"/>
          <p:cNvSpPr txBox="1"/>
          <p:nvPr/>
        </p:nvSpPr>
        <p:spPr>
          <a:xfrm>
            <a:off x="2625300" y="2158675"/>
            <a:ext cx="4043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6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2299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left -&gt; our left pointer</a:t>
            </a:r>
            <a:endParaRPr b="1" sz="1100">
              <a:solidFill>
                <a:srgbClr val="2299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100">
                <a:solidFill>
                  <a:srgbClr val="2299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right -&gt; our right pointer</a:t>
            </a:r>
            <a:endParaRPr b="1" sz="1100">
              <a:solidFill>
                <a:srgbClr val="2299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" sz="1100">
                <a:solidFill>
                  <a:srgbClr val="229977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what should our condition be? What else ıs wrong wıth t</a:t>
            </a:r>
            <a:endParaRPr b="1" sz="1100">
              <a:solidFill>
                <a:srgbClr val="229977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left &lt; right: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left &lt;= right: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pass</a:t>
            </a:r>
            <a:endParaRPr b="1" sz="11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91"/>
          <p:cNvSpPr txBox="1"/>
          <p:nvPr>
            <p:ph idx="1" type="body"/>
          </p:nvPr>
        </p:nvSpPr>
        <p:spPr>
          <a:xfrm>
            <a:off x="311700" y="932750"/>
            <a:ext cx="8520600" cy="36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04" u="sng">
                <a:solidFill>
                  <a:schemeClr val="hlink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Divide Players into Teams of Equal Skill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accent5"/>
                </a:solidFill>
                <a:highlight>
                  <a:schemeClr val="lt1"/>
                </a:highlight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Boats to Save People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hlink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Container With Most Water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hlink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Sum of Square Numbers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hlink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Partition Labels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accent5"/>
                </a:solidFill>
                <a:highlight>
                  <a:schemeClr val="lt1"/>
                </a:highlight>
                <a:latin typeface="Century Gothic"/>
                <a:ea typeface="Century Gothic"/>
                <a:cs typeface="Century Gothic"/>
                <a:sym typeface="Century Gothic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Merge Sorted Array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Remove Duplicates from Sorted Array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604" u="sng">
                <a:solidFill>
                  <a:schemeClr val="hlink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  <a:hlinkClick r:id="rId10"/>
              </a:rPr>
              <a:t>Rotate Array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1604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11"/>
              </a:rPr>
              <a:t>Alternating Subsequence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8" name="Google Shape;508;p91"/>
          <p:cNvSpPr txBox="1"/>
          <p:nvPr>
            <p:ph type="title"/>
          </p:nvPr>
        </p:nvSpPr>
        <p:spPr>
          <a:xfrm>
            <a:off x="311700" y="191150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Practice Problems</a:t>
            </a:r>
            <a:endParaRPr b="1" sz="25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2"/>
          <p:cNvSpPr txBox="1"/>
          <p:nvPr>
            <p:ph idx="1" type="body"/>
          </p:nvPr>
        </p:nvSpPr>
        <p:spPr>
          <a:xfrm>
            <a:off x="311700" y="627950"/>
            <a:ext cx="8520600" cy="363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Codeforces Pilot Course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Geeksforgeeks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Algodaily</a:t>
            </a:r>
            <a:endParaRPr sz="1604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14" name="Google Shape;514;p92"/>
          <p:cNvSpPr txBox="1"/>
          <p:nvPr>
            <p:ph type="title"/>
          </p:nvPr>
        </p:nvSpPr>
        <p:spPr>
          <a:xfrm>
            <a:off x="311700" y="191150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Helpful Resources</a:t>
            </a:r>
            <a:endParaRPr b="1" sz="25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0" name="Google Shape;520;p93"/>
          <p:cNvSpPr txBox="1"/>
          <p:nvPr/>
        </p:nvSpPr>
        <p:spPr>
          <a:xfrm>
            <a:off x="4055125" y="37874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Henok Matheas Kebede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Bruk Mekonnen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Misganaw Berihun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21" name="Google Shape;521;p93"/>
          <p:cNvSpPr txBox="1"/>
          <p:nvPr/>
        </p:nvSpPr>
        <p:spPr>
          <a:xfrm>
            <a:off x="6144000" y="36335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Wubshet Zeleke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Yeabsira Driba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Ibsa Abraham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22" name="Google Shape;522;p93"/>
          <p:cNvSpPr txBox="1"/>
          <p:nvPr>
            <p:ph idx="4294967295" type="title"/>
          </p:nvPr>
        </p:nvSpPr>
        <p:spPr>
          <a:xfrm>
            <a:off x="311700" y="191150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2">
                <a:alpha val="20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>
                <a:solidFill>
                  <a:srgbClr val="43434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Quote Of The Day</a:t>
            </a:r>
            <a:endParaRPr b="1" sz="2500">
              <a:solidFill>
                <a:srgbClr val="43434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23" name="Google Shape;523;p93"/>
          <p:cNvSpPr txBox="1"/>
          <p:nvPr/>
        </p:nvSpPr>
        <p:spPr>
          <a:xfrm>
            <a:off x="340200" y="1813950"/>
            <a:ext cx="846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chemeClr val="dk2"/>
                </a:solidFill>
              </a:rPr>
              <a:t>“The elevator to success is out of order. You will have to use the stairs, one step at a time.“</a:t>
            </a:r>
            <a:endParaRPr i="1" sz="1900">
              <a:solidFill>
                <a:schemeClr val="dk2"/>
              </a:solidFill>
            </a:endParaRPr>
          </a:p>
        </p:txBody>
      </p:sp>
      <p:sp>
        <p:nvSpPr>
          <p:cNvPr id="524" name="Google Shape;524;p93"/>
          <p:cNvSpPr txBox="1"/>
          <p:nvPr/>
        </p:nvSpPr>
        <p:spPr>
          <a:xfrm>
            <a:off x="6057000" y="2735525"/>
            <a:ext cx="308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venir"/>
              <a:buChar char="-"/>
            </a:pPr>
            <a:r>
              <a:rPr lang="en" sz="1600">
                <a:solidFill>
                  <a:schemeClr val="dk2"/>
                </a:solidFill>
                <a:latin typeface="Avenir"/>
                <a:ea typeface="Avenir"/>
                <a:cs typeface="Avenir"/>
                <a:sym typeface="Avenir"/>
              </a:rPr>
              <a:t>Joe Girard</a:t>
            </a:r>
            <a:endParaRPr sz="1600">
              <a:solidFill>
                <a:schemeClr val="dk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